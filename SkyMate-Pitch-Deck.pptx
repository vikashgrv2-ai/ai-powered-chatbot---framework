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SkyMate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FLIGHT ASSISTANT · DEL → BOM → ANYWHERE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499616" cy="1005840"/>
          </a:xfrm>
          <a:prstGeom prst="roundRect">
            <a:avLst>
              <a:gd name="adj" fmla="val 7273"/>
            </a:avLst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85416" y="2468880"/>
            <a:ext cx="1499616" cy="1005840"/>
          </a:xfrm>
          <a:prstGeom prst="roundRect">
            <a:avLst>
              <a:gd name="adj" fmla="val 7273"/>
            </a:avLst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22576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02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2322576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22192" y="2468880"/>
            <a:ext cx="1499616" cy="1005840"/>
          </a:xfrm>
          <a:prstGeom prst="roundRect">
            <a:avLst>
              <a:gd name="adj" fmla="val 7273"/>
            </a:avLst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59352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959352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58968" y="2468880"/>
            <a:ext cx="1499616" cy="1005840"/>
          </a:xfrm>
          <a:prstGeom prst="roundRect">
            <a:avLst>
              <a:gd name="adj" fmla="val 7273"/>
            </a:avLst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596128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95744" y="2468880"/>
            <a:ext cx="1499616" cy="1005840"/>
          </a:xfrm>
          <a:prstGeom prst="roundRect">
            <a:avLst>
              <a:gd name="adj" fmla="val 7273"/>
            </a:avLst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32904" y="26060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05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232904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4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name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6253D"/>
          </a:solidFill>
          <a:ln w="12700">
            <a:solidFill>
              <a:srgbClr val="F3B2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886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194560" y="38862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3291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one flight still takes five tabs and a leap of faith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297680" y="640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800600" y="6400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Scattered information. </a:t>
            </a:r>
            <a:pPr indent="0" marL="0">
              <a:buNone/>
            </a:pPr>
            <a:r>
              <a:rPr lang="en-US" sz="14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Schedules, airline rules, terminals, weather and documents live in different places.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463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00600" y="1463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Untrustworthy answers. </a:t>
            </a:r>
            <a:pPr indent="0" marL="0">
              <a:buNone/>
            </a:pPr>
            <a:r>
              <a:rPr lang="en-US" sz="14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chatbots invent fares, gates and timings with no fact-check.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29768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22860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direct flight, no answer. </a:t>
            </a:r>
            <a:pPr indent="0" marL="0">
              <a:buNone/>
            </a:pPr>
            <a:r>
              <a:rPr lang="en-US" sz="14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connections takes many searches and costs API calls.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31089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31089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control. </a:t>
            </a:r>
            <a:pPr indent="0" marL="0">
              <a:buNone/>
            </a:pPr>
            <a:r>
              <a:rPr lang="en-US" sz="14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Costly or irreversible steps, like booking, run without the traveller's go-ahead.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9319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931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to one use case. </a:t>
            </a:r>
            <a:pPr indent="0" marL="0">
              <a:buNone/>
            </a:pPr>
            <a:r>
              <a:rPr lang="en-US" sz="14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Moving to a new domain means rebuilding the assistant from scratch.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chat that plans, checks and asks before it acts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0B1422"/>
          </a:solidFill>
          <a:ln w="12700">
            <a:solidFill>
              <a:srgbClr val="F3B2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146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 in the live demo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57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257800" y="457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Understands plain requests and searches live flights worldwide, including one-stop connections.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1704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257800" y="1170432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12-agent team led by a supervisor builds the itinerary: 9 specialists in parallel, a web agent fills gaps.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836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1883664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and fact-checks block injection attempts and check every answer against real data.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259689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257800" y="2596896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Clearances queue for approving connection searches, itinerary reviews and bookings, or saving drafts.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3310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310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documents, live weather, SkyPay checkout, calendar and PDF in one place.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40233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packs: change one folder to reuse the whole engine for a new use case.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LangGraph, LangChain and live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3152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984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per itinerary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340864" y="12984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orchestrated graph steps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3950208" y="12984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checkpoints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559552" y="12984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endpoints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168896" y="1298448"/>
            <a:ext cx="1554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  <a:p>
            <a:pPr indent="0" marL="0">
              <a:buNone/>
            </a:pPr>
            <a:r>
              <a:rPr lang="en-US" sz="10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per domain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14884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the company LLM gateway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GPT-5-mini · itineraries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GPT-4.1-mini · chat, agents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text-embedding-3-large · RAG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Whisper · voice notes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596896" y="214884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06624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supervised graphs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0.4.3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StateGraph · Send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 · Command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checkpointer 2.0.10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45152" y="214884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calls and documents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langchain-core 1.6.9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langchain-openai 1.7.0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text-splitters · RAG chunks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93408" y="214884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03136" y="224028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C49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control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built in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guardrails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safety classifier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fact-check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Clearances queue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FD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memory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locally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1.0.9 · vectors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· approvals, runs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+ bcrypt · users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96896" y="361188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06624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6FD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facts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AeroDataBox · schedules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· weather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 → Wikipedia · web search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45152" y="361188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3.1.3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Flasgger · Swagger docs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(PyJWT) · auth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fpdf2 · trip PDF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93408" y="3611880"/>
            <a:ext cx="1938528" cy="137160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03136" y="370332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server-rendered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 templates · domain-aware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 · no framework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SkyPay checkout · demo payments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engine with a plug-in domain pack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16253D"/>
          </a:solidFill>
          <a:ln w="15875">
            <a:solidFill>
              <a:srgbClr val="24354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1790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· Clearances · calendar · SkyPay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1371600" cy="822960"/>
          </a:xfrm>
          <a:prstGeom prst="roundRect">
            <a:avLst>
              <a:gd name="adj" fmla="val 6667"/>
            </a:avLst>
          </a:prstGeom>
          <a:solidFill>
            <a:srgbClr val="16253D"/>
          </a:solidFill>
          <a:ln w="15875">
            <a:solidFill>
              <a:srgbClr val="2435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70662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app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REST routes · Swagger · auth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34440" y="2286000"/>
            <a:ext cx="0" cy="365760"/>
          </a:xfrm>
          <a:prstGeom prst="line">
            <a:avLst/>
          </a:prstGeom>
          <a:noFill/>
          <a:ln w="15875">
            <a:solidFill>
              <a:srgbClr val="93A3B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463040"/>
            <a:ext cx="4206240" cy="2011680"/>
          </a:xfrm>
          <a:prstGeom prst="rect">
            <a:avLst/>
          </a:prstGeom>
          <a:solidFill>
            <a:srgbClr val="111D30"/>
          </a:solidFill>
          <a:ln w="12700">
            <a:solidFill>
              <a:srgbClr val="24354F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2331720" y="15179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 · GENERIC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31720" y="1828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16253D"/>
          </a:solidFill>
          <a:ln w="15875">
            <a:solidFill>
              <a:srgbClr val="6CC6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883664"/>
            <a:ext cx="1828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orchestrator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supervisor: search · alternatives ⏸ · plan · review ⏸ · commit ⏸ · answer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182880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6253D"/>
          </a:solidFill>
          <a:ln w="15875">
            <a:solidFill>
              <a:srgbClr val="6CC6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17720" y="188366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6CC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Itinerary agent team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 + 9 parallel specialists, web agent, composer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31720" y="2834640"/>
            <a:ext cx="2011680" cy="502920"/>
          </a:xfrm>
          <a:prstGeom prst="roundRect">
            <a:avLst>
              <a:gd name="adj" fmla="val 10909"/>
            </a:avLst>
          </a:prstGeom>
          <a:solidFill>
            <a:srgbClr val="16253D"/>
          </a:solidFill>
          <a:ln w="15875">
            <a:solidFill>
              <a:srgbClr val="2435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23160" y="288950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· LLM classifier · fact-check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26280" y="2834640"/>
            <a:ext cx="1737360" cy="502920"/>
          </a:xfrm>
          <a:prstGeom prst="roundRect">
            <a:avLst>
              <a:gd name="adj" fmla="val 10909"/>
            </a:avLst>
          </a:prstGeom>
          <a:solidFill>
            <a:srgbClr val="16253D"/>
          </a:solidFill>
          <a:ln w="15875">
            <a:solidFill>
              <a:srgbClr val="C49B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889504"/>
            <a:ext cx="1554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49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in the loop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 · Clearances queue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86000" y="2286000"/>
            <a:ext cx="45720" cy="0"/>
          </a:xfrm>
          <a:prstGeom prst="line">
            <a:avLst/>
          </a:prstGeom>
          <a:noFill/>
          <a:ln w="15875">
            <a:solidFill>
              <a:srgbClr val="93A3B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240280" y="2286000"/>
            <a:ext cx="0" cy="0"/>
          </a:xfrm>
          <a:prstGeom prst="line">
            <a:avLst/>
          </a:prstGeom>
          <a:noFill/>
          <a:ln w="15875">
            <a:solidFill>
              <a:srgbClr val="93A3B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83680" y="1463040"/>
            <a:ext cx="2011680" cy="2011680"/>
          </a:xfrm>
          <a:prstGeom prst="rect">
            <a:avLst/>
          </a:prstGeom>
          <a:solidFill>
            <a:srgbClr val="111D30"/>
          </a:solidFill>
          <a:ln w="15875">
            <a:solidFill>
              <a:srgbClr val="F3B23C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6720840" y="15179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PACK · AIRLINE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20840" y="1828800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6253D"/>
          </a:solidFill>
          <a:ln w="15875">
            <a:solidFill>
              <a:srgbClr val="F3B23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188366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prompt_md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· prompts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2231136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6253D"/>
          </a:solidFill>
          <a:ln w="15875">
            <a:solidFill>
              <a:srgbClr val="F3B2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12280" y="228600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domain.json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· intents · airports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2633472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6253D"/>
          </a:solidFill>
          <a:ln w="15875">
            <a:solidFill>
              <a:srgbClr val="F3B23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12280" y="26883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adapter.py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· booking · PDF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3035808"/>
            <a:ext cx="1737360" cy="347472"/>
          </a:xfrm>
          <a:prstGeom prst="roundRect">
            <a:avLst>
              <a:gd name="adj" fmla="val 15789"/>
            </a:avLst>
          </a:prstGeom>
          <a:solidFill>
            <a:srgbClr val="16253D"/>
          </a:solidFill>
          <a:ln w="15875">
            <a:solidFill>
              <a:srgbClr val="F3B23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12280" y="3090672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3B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 &amp; assets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· checkout · cards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2377440"/>
            <a:ext cx="182880" cy="0"/>
          </a:xfrm>
          <a:prstGeom prst="line">
            <a:avLst/>
          </a:prstGeom>
          <a:noFill/>
          <a:ln w="15875">
            <a:solidFill>
              <a:srgbClr val="93A3BA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48640" y="384048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16253D"/>
          </a:solidFill>
          <a:ln w="15875">
            <a:solidFill>
              <a:srgbClr val="6FD3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89534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gateway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GPT-5-mini · 4.1-mini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176272" y="384048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16253D"/>
          </a:solidFill>
          <a:ln w="15875">
            <a:solidFill>
              <a:srgbClr val="6FD3A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67712" y="389534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AeroDataBox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schedules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803904" y="384048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16253D"/>
          </a:solidFill>
          <a:ln w="15875">
            <a:solidFill>
              <a:srgbClr val="6FD3A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3895344" y="389534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forecast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31536" y="384048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16253D"/>
          </a:solidFill>
          <a:ln w="15875">
            <a:solidFill>
              <a:srgbClr val="6FD3A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522976" y="389534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Tavily → Wikipedia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59168" y="3840480"/>
            <a:ext cx="1536192" cy="731520"/>
          </a:xfrm>
          <a:prstGeom prst="roundRect">
            <a:avLst>
              <a:gd name="adj" fmla="val 7500"/>
            </a:avLst>
          </a:prstGeom>
          <a:solidFill>
            <a:srgbClr val="16253D"/>
          </a:solidFill>
          <a:ln w="15875">
            <a:solidFill>
              <a:srgbClr val="93A3B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150608" y="389534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9EE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stores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· SQLite · JSON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4663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3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Below: external HTTPS APIs and local stores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SkyMate Pitch Deck</dc:title>
  <dc:subject>PptxGenJS Presentation</dc:subject>
  <dc:creator>PptxGenJS</dc:creator>
  <cp:lastModifiedBy>PptxGenJS</cp:lastModifiedBy>
  <cp:revision>1</cp:revision>
  <dcterms:created xsi:type="dcterms:W3CDTF">2026-10-15T09:39:34Z</dcterms:created>
  <dcterms:modified xsi:type="dcterms:W3CDTF">2026-10-15T09:39:34Z</dcterms:modified>
</cp:coreProperties>
</file>